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Moves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SWCC</c:v>
                  </c:pt>
                  <c:pt idx="1">
                    <c:v>ZEN</c:v>
                  </c:pt>
                  <c:pt idx="2">
                    <c:v>HO / KA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27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Inbound (Cross-Regional)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SWCC</c:v>
                  </c:pt>
                  <c:pt idx="1">
                    <c:v>ZEN</c:v>
                  </c:pt>
                  <c:pt idx="2">
                    <c:v>HO / KA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Movements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ZEN  (East · N1 · N2)</c:v>
                  </c:pt>
                  <c:pt idx="1">
                    <c:v>SWCC  (S · W · C · CSD)</c:v>
                  </c:pt>
                  <c:pt idx="2">
                    <c:v>HO / Key Accounts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31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22 Internal Moves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SWCC Moves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</c:dPt>
          <c:dPt>
            <c:idx val="3"/>
            <c:bubble3D val="0"/>
            <c:spPr>
              <a:solidFill>
                <a:srgbClr val="6EE7B7"/>
              </a:solidFill>
              <a:effectLst/>
            </c:spPr>
          </c:dPt>
          <c:dPt>
            <c:idx val="4"/>
            <c:bubble3D val="0"/>
            <c:spPr>
              <a:solidFill>
                <a:srgbClr val="A7F3D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Within West (8)</c:v>
                </c:pt>
                <c:pt idx="1">
                  <c:v>Within South (6)</c:v>
                </c:pt>
                <c:pt idx="2">
                  <c:v>Cross Sub-Region (4)</c:v>
                </c:pt>
                <c:pt idx="3">
                  <c:v>Within Central (2)</c:v>
                </c:pt>
                <c:pt idx="4">
                  <c:v>Within CSD (2)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Cross-Sub-Region Moves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Moves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f3d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CSD → South</c:v>
                  </c:pt>
                  <c:pt idx="1">
                    <c:v>CSD → Central</c:v>
                  </c:pt>
                  <c:pt idx="2">
                    <c:v>South → West</c:v>
                  </c:pt>
                  <c:pt idx="3">
                    <c:v>West → CSD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27 Internal Moves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ZEN Moves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</c:dPt>
          <c:dPt>
            <c:idx val="3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bubble3D val="0"/>
            <c:spPr>
              <a:solidFill>
                <a:srgbClr val="BFDBF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Within North 2 (11)</c:v>
                </c:pt>
                <c:pt idx="1">
                  <c:v>Within North 1 (8)</c:v>
                </c:pt>
                <c:pt idx="2">
                  <c:v>Cross Sub-Region (4)</c:v>
                </c:pt>
                <c:pt idx="3">
                  <c:v>Within East (3)</c:v>
                </c:pt>
                <c:pt idx="4">
                  <c:v>Within N region (1)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11</c:v>
                </c:pt>
                <c:pt idx="1">
                  <c:v>8</c:v>
                </c:pt>
                <c:pt idx="2">
                  <c:v>4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Cross-Sub-Region Moves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North 1 → North 2</c:v>
                  </c:pt>
                  <c:pt idx="1">
                    <c:v>North 2 → North 1</c:v>
                  </c:pt>
                  <c:pt idx="2">
                    <c:v>N region → North 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SWCC</c:v>
                  </c:pt>
                  <c:pt idx="1">
                    <c:v>ZEN</c:v>
                  </c:pt>
                  <c:pt idx="2">
                    <c:v>HO / KA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84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SWCC</c:v>
                  </c:pt>
                  <c:pt idx="1">
                    <c:v>ZEN</c:v>
                  </c:pt>
                  <c:pt idx="2">
                    <c:v>HO / KA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</c:v>
                </c:pt>
                <c:pt idx="1">
                  <c:v>16</c:v>
                </c:pt>
                <c:pt idx="2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Moves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N2 (ZEN)</c:v>
                  </c:pt>
                  <c:pt idx="1">
                    <c:v>N1 (ZEN)</c:v>
                  </c:pt>
                  <c:pt idx="2">
                    <c:v>West (SWCC)</c:v>
                  </c:pt>
                  <c:pt idx="3">
                    <c:v>South (SWCC)</c:v>
                  </c:pt>
                  <c:pt idx="4">
                    <c:v>East (ZEN)</c:v>
                  </c:pt>
                  <c:pt idx="5">
                    <c:v>Central (SWCC)</c:v>
                  </c:pt>
                  <c:pt idx="6">
                    <c:v>CSD (SWCC)</c:v>
                  </c:pt>
                  <c:pt idx="7">
                    <c:v>N region (ZEN)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</c:v>
                </c:pt>
                <c:pt idx="1">
                  <c:v>8</c:v>
                </c:pt>
                <c:pt idx="2">
                  <c:v>8</c:v>
                </c:pt>
                <c:pt idx="3">
                  <c:v>6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chart" Target="..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4560"/>
                </a:solidFill>
              </a:rPr>
              <a:t>ABC COMPANY  ·  CHRO BRIEFING  ·  MARCH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Sales Team
</a:t>
            </a:r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Talent Rotation
</a:t>
            </a:r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Analysis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2D8"/>
                </a:solidFill>
              </a:rPr>
              <a:t>Cross-regional &amp; intra-regional employee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2D8"/>
                </a:solidFill>
              </a:rPr>
              <a:t>movement across India Sales Clusters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2519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5196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SWCC — S · W · Central · CSD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42519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425196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ZEN — East · North 1 · North 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4251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42519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HO / KA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"/>
            <a:ext cx="3291840" cy="329184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731520"/>
            <a:ext cx="2377440" cy="2377440"/>
          </a:xfrm>
          <a:prstGeom prst="ellipse">
            <a:avLst/>
          </a:prstGeom>
          <a:solidFill>
            <a:srgbClr val="0F3460">
              <a:alpha val="4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914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</a:rPr>
              <a:t>71</a:t>
            </a:r>
            <a:endParaRPr lang="en-US" sz="7600" dirty="0"/>
          </a:p>
        </p:txBody>
      </p:sp>
      <p:sp>
        <p:nvSpPr>
          <p:cNvPr id="15" name="Text 13"/>
          <p:cNvSpPr/>
          <p:nvPr/>
        </p:nvSpPr>
        <p:spPr>
          <a:xfrm>
            <a:off x="667512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8B2D8"/>
                </a:solidFill>
              </a:rPr>
              <a:t>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100" kern="0" dirty="0">
                <a:solidFill>
                  <a:srgbClr val="A8B2D8"/>
                </a:solidFill>
              </a:rPr>
              <a:t>MOVEMENTS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AT A GLANCE  ·  KEY MOVEMENT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</a:rPr>
              <a:t>Movement Summary — All Clusters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77% of all moves are intra-regional · 23% cross-cluster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15910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71600"/>
            <a:ext cx="1591056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828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94560"/>
                </a:solidFill>
              </a:rPr>
              <a:t>71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228600" y="32918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Total Movements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" y="37033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clusters combined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4663440"/>
            <a:ext cx="54864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1371600"/>
            <a:ext cx="15910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65960" y="1371600"/>
            <a:ext cx="1591056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828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B82F6"/>
                </a:solidFill>
              </a:rPr>
              <a:t>32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1965960" y="32918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ZEN Movements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65960" y="37033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East · N1 · N2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87168" y="4663440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1371600"/>
            <a:ext cx="15910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03320" y="1371600"/>
            <a:ext cx="1591056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828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0B981"/>
                </a:solidFill>
              </a:rPr>
              <a:t>31</a:t>
            </a:r>
            <a:endParaRPr lang="en-US" sz="5800" dirty="0"/>
          </a:p>
        </p:txBody>
      </p:sp>
      <p:sp>
        <p:nvSpPr>
          <p:cNvPr id="21" name="Text 19"/>
          <p:cNvSpPr/>
          <p:nvPr/>
        </p:nvSpPr>
        <p:spPr>
          <a:xfrm>
            <a:off x="3703320" y="32918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SWCC Movements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03320" y="37033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 · W · C · CSD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24528" y="4663440"/>
            <a:ext cx="548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1371600"/>
            <a:ext cx="15910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40680" y="1371600"/>
            <a:ext cx="159105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1828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59E0B"/>
                </a:solidFill>
              </a:rPr>
              <a:t>8</a:t>
            </a:r>
            <a:endParaRPr lang="en-US" sz="5800" dirty="0"/>
          </a:p>
        </p:txBody>
      </p:sp>
      <p:sp>
        <p:nvSpPr>
          <p:cNvPr id="27" name="Text 25"/>
          <p:cNvSpPr/>
          <p:nvPr/>
        </p:nvSpPr>
        <p:spPr>
          <a:xfrm>
            <a:off x="5440680" y="32918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HO / KA Moves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40680" y="37033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Head Office + Key Accts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61888" y="466344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1371600"/>
            <a:ext cx="15910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78040" y="1371600"/>
            <a:ext cx="1591056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1828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8B5CF6"/>
                </a:solidFill>
              </a:rPr>
              <a:t>16</a:t>
            </a:r>
            <a:endParaRPr lang="en-US" sz="5800" dirty="0"/>
          </a:p>
        </p:txBody>
      </p:sp>
      <p:sp>
        <p:nvSpPr>
          <p:cNvPr id="33" name="Text 31"/>
          <p:cNvSpPr/>
          <p:nvPr/>
        </p:nvSpPr>
        <p:spPr>
          <a:xfrm>
            <a:off x="7178040" y="32918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Cross-Regional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78040" y="37033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22.5% of all moves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99248" y="4663440"/>
            <a:ext cx="5486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4560"/>
                </a:solidFill>
              </a:rPr>
              <a:t>DRAFT 1A  ·  REGIONAL VOLUME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</a:rPr>
              <a:t>Internal vs. Cross-Regional Breakdown by Cluster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How much movement happens within each region vs. inbound from outside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4560"/>
                </a:solidFill>
              </a:rPr>
              <a:t>DRAFT 1B  ·  TOTAL MOVEMENT RANKING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</a:rPr>
              <a:t>Which Cluster Has the Highest Rotation?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Absolute number of moves per cluster — internal + cross-regional combined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709160"/>
            <a:ext cx="2651760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709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ZEN leads · 32 total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4709160"/>
            <a:ext cx="2651760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4709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SWCC · 31 total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4709160"/>
            <a:ext cx="265176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4709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HO/KA · 8 total (stable)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DRAFT 2  ·  CROSS-REGIONAL TALENT FLOW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</a:rPr>
              <a:t>Where Are People Moving Across Boundaries?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Arrow thickness = volume · Labels show headcount · Net flow highlights talent migration direction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463040" cy="548640"/>
          </a:xfrm>
          <a:prstGeom prst="rect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" y="1463040"/>
            <a:ext cx="13167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702613"/>
            <a:ext cx="13167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Feeder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1463040" cy="548640"/>
          </a:xfrm>
          <a:prstGeom prst="rect">
            <a:avLst/>
          </a:prstGeom>
          <a:solidFill>
            <a:srgbClr val="0F346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" y="2240280"/>
            <a:ext cx="13167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" y="2479853"/>
            <a:ext cx="13167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Head Office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3337560"/>
            <a:ext cx="1463040" cy="54864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" y="3383280"/>
            <a:ext cx="13167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 South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" y="3622853"/>
            <a:ext cx="13167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Key Accounts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48840" y="1417320"/>
            <a:ext cx="1554480" cy="54864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21992" y="1463040"/>
            <a:ext cx="140817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 North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21992" y="1702613"/>
            <a:ext cx="140817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Key Accounts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3931920" cy="1097280"/>
          </a:xfrm>
          <a:prstGeom prst="rect">
            <a:avLst/>
          </a:prstGeom>
          <a:solidFill>
            <a:srgbClr val="3B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19472" y="1234440"/>
            <a:ext cx="378561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1759306"/>
            <a:ext cx="378561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East · North 1 · North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Internal: 27 moves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3931920" cy="1097280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9472" y="3063240"/>
            <a:ext cx="378561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SWCC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588106"/>
            <a:ext cx="378561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South · West · Central · CSD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BEAFE"/>
                </a:solidFill>
              </a:rPr>
              <a:t>Internal: 22 moves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37260" y="1965960"/>
            <a:ext cx="0" cy="2286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81812" y="1956816"/>
            <a:ext cx="310896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" y="19568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2267712"/>
            <a:ext cx="457200" cy="-576072"/>
          </a:xfrm>
          <a:prstGeom prst="line">
            <a:avLst/>
          </a:prstGeom>
          <a:noFill/>
          <a:ln w="19050">
            <a:solidFill>
              <a:srgbClr val="0F3460"/>
            </a:solidFill>
            <a:prstDash val="dash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856232" y="1746504"/>
            <a:ext cx="310896" cy="25603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56232" y="17465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03320" y="1691640"/>
            <a:ext cx="1143000" cy="-914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142232" y="1490472"/>
            <a:ext cx="310896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2232" y="149047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91640" y="2468880"/>
            <a:ext cx="3154680" cy="822960"/>
          </a:xfrm>
          <a:prstGeom prst="line">
            <a:avLst/>
          </a:prstGeom>
          <a:noFill/>
          <a:ln w="25400">
            <a:solidFill>
              <a:srgbClr val="0F3460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3136392" y="2660904"/>
            <a:ext cx="310896" cy="25603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36392" y="26609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91640" y="3611880"/>
            <a:ext cx="3154680" cy="-13716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3136392" y="3383280"/>
            <a:ext cx="310896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33832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38928" y="2286000"/>
            <a:ext cx="0" cy="731520"/>
          </a:xfrm>
          <a:prstGeom prst="line">
            <a:avLst/>
          </a:prstGeom>
          <a:noFill/>
          <a:ln w="6350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4983480" y="2542032"/>
            <a:ext cx="310896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25420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0" y="2286000"/>
            <a:ext cx="0" cy="731520"/>
          </a:xfrm>
          <a:prstGeom prst="line">
            <a:avLst/>
          </a:prstGeom>
          <a:noFill/>
          <a:ln w="50800">
            <a:solidFill>
              <a:srgbClr val="10B981"/>
            </a:solidFill>
            <a:prstDash val="solid"/>
            <a:headEnd type="arrow"/>
          </a:ln>
        </p:spPr>
      </p:sp>
      <p:sp>
        <p:nvSpPr>
          <p:cNvPr id="43" name="Shape 41"/>
          <p:cNvSpPr/>
          <p:nvPr/>
        </p:nvSpPr>
        <p:spPr>
          <a:xfrm>
            <a:off x="5513832" y="2505456"/>
            <a:ext cx="310896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50545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253288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94560">
              <a:alpha val="92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Net: ZEN → SWCC  +2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4736592"/>
            <a:ext cx="12801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ZEN → SWCC (6)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29968" y="4736592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12848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SWCC → ZEN (4)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85616" y="4736592"/>
            <a:ext cx="12801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68496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KA flows (3)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41264" y="4736592"/>
            <a:ext cx="128016" cy="12801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24144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 outflows (2)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96912" y="4736592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79792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Marketing → HO (1)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DRAFT 3A  ·  SWCC CLUSTER BREAKDOWN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</a:rPr>
              <a:t>SWCC Sub-Region Movement Analysis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South · West · Central · CSD — internal rotation patterns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685800"/>
            <a:ext cx="0" cy="4251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274320" y="1371600"/>
          <a:ext cx="4160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09160" y="1371600"/>
          <a:ext cx="41148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</a:rPr>
              <a:t>DRAFT 3B  ·  ZEN CLUSTER BREAKDOWN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</a:rPr>
              <a:t>ZEN Sub-Region Movement Analysis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East · North 1 · North 2 · North Region — internal rotation patterns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685800"/>
            <a:ext cx="0" cy="4251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274320" y="1371600"/>
          <a:ext cx="4160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09160" y="1371600"/>
          <a:ext cx="41148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DRAFT 4  ·  MOVEMENT MATRIX — HEATMAP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</a:rPr>
              <a:t>From → To Movement Matrix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Darker colour = higher volume · Diagonal entries = within-cluster rotation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82880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FROM  \  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→ HO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→ KA North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→ SWCC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→ ZEN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Marketing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HO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KA North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KA South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SWCC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22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E7B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ZEN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E7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27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371600" y="4727448"/>
            <a:ext cx="1828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9344" y="4700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movement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17520" y="4727448"/>
            <a:ext cx="182880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55264" y="4700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Low (1–3)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4727448"/>
            <a:ext cx="182880" cy="1828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01184" y="4700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Medium (4–9)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4727448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47104" y="4700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 (10+)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DRAFT 5  ·  ROTATION MIX &amp; SUB-REGION ACTIVITY DEPTH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0" y="640080"/>
            <a:ext cx="0" cy="4297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Internal vs. External Mix (%)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ZEN most self-contained · SWCC highest external inflow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234440"/>
          <a:ext cx="41605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Sub-Region Activity Ranking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9875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North 2 &amp; West drive highest individual volume</a:t>
            </a:r>
            <a:endParaRPr lang="en-US" sz="9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754880" y="1234440"/>
          <a:ext cx="41605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CHRO EXECUTIVE SUMMARY  ·  KEY STRATEGIC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Sales Team Talent Rotation — ABC Company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206240" cy="1115568"/>
          </a:xfrm>
          <a:prstGeom prst="rect">
            <a:avLst/>
          </a:prstGeom>
          <a:solidFill>
            <a:srgbClr val="3B82F6">
              <a:alpha val="14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" y="1243584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243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ZEN is the Most Active Cluster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32 total movements — the highest of any cluster. 27 internal moves show a strong internal talent pipeline in East &amp; North.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06240" cy="1115568"/>
          </a:xfrm>
          <a:prstGeom prst="rect">
            <a:avLst/>
          </a:prstGeom>
          <a:solidFill>
            <a:srgbClr val="10B981">
              <a:alpha val="14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88720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37176" y="124358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1243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SWCC Has Highest External Inflow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66360" y="155448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SWCC absorbed 9 from outside (ZEN: 6, KA South: 2, HO: 1) — net inflow of +5. SWCC is a talent magnet, likely driven by West &amp; South growth.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423160"/>
            <a:ext cx="4206240" cy="1115568"/>
          </a:xfrm>
          <a:prstGeom prst="rect">
            <a:avLst/>
          </a:prstGeom>
          <a:solidFill>
            <a:srgbClr val="F59E0B">
              <a:alpha val="14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423160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" y="247802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2478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ZEN → SWCC Net Drain: Watch This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278892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6 moved ZEN→SWCC vs 4 SWCC→ZEN. Net -2 from ZEN. If this persists, North &amp; East may develop capability gaps over time.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423160"/>
            <a:ext cx="4206240" cy="1115568"/>
          </a:xfrm>
          <a:prstGeom prst="rect">
            <a:avLst/>
          </a:prstGeom>
          <a:solidFill>
            <a:srgbClr val="E94560">
              <a:alpha val="14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423160"/>
            <a:ext cx="64008" cy="11155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37176" y="2478024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7176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2478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North 2 &amp; West Are High-Churn Sub-Regions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66360" y="278892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North 2 (11 moves) and West (8 moves) dominate internal rotation. These sub-regions need active succession planning.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657600"/>
            <a:ext cx="4206240" cy="1115568"/>
          </a:xfrm>
          <a:prstGeom prst="rect">
            <a:avLst/>
          </a:prstGeom>
          <a:solidFill>
            <a:srgbClr val="8B5CF6">
              <a:alpha val="14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657600"/>
            <a:ext cx="64008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" y="3712464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3712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77% of All Moves Are Intra-Regional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" y="402336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55 of 71 moves are within the same cluster — a healthy sign of internal career development before cross-functional deployment.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4206240" cy="1115568"/>
          </a:xfrm>
          <a:prstGeom prst="rect">
            <a:avLst/>
          </a:prstGeom>
          <a:solidFill>
            <a:srgbClr val="94A3B8">
              <a:alpha val="14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657600"/>
            <a:ext cx="64008" cy="11155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37176" y="3712464"/>
            <a:ext cx="256032" cy="25603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66360" y="3712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 / KA Shows Minimal Rotation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66360" y="402336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Only 8 total moves. May signal strategic stability at senior levels — or a structural gap restricting upward/lateral mobility.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4681728"/>
            <a:ext cx="868680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68172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OVERALL HEALTH:  Moderately healthy talent mobility culture (71 moves, balanced mix).  KEY RISK: Concentrated churn in North 2 &amp; West — monitor for hidden attrition or performance pressure.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DRAFT 8  ·  INDIA REGIONAL TALENT ROTATION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Sub-region movement volume across India Sales Clusters — ZEN (Blue) vs SWCC (Green)</a:t>
            </a:r>
          </a:p>
        </p:txBody>
      </p:sp>
      <p:pic>
        <p:nvPicPr>
          <p:cNvPr id="5" name="Picture 4" descr="india_heatmap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96112"/>
            <a:ext cx="3820885" cy="4160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04933" y="914400"/>
            <a:ext cx="4829338" cy="41605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6373" y="978408"/>
            <a:ext cx="469217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94A3B8"/>
                </a:solidFill>
              </a:rPr>
              <a:t>KEY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8085" y="1280160"/>
            <a:ext cx="45720" cy="38061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9525" y="1243584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North 2 (ZEN)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8511" y="1243584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8085" y="1752218"/>
            <a:ext cx="45720" cy="38061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9525" y="1715642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North 1 (ZEN)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1" y="1715642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8085" y="2224278"/>
            <a:ext cx="45720" cy="3806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9525" y="2187702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West (SWCC)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1" y="2187702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8085" y="2696337"/>
            <a:ext cx="45720" cy="3806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9525" y="2659761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South (SWCC)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1" y="2659761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8085" y="3168396"/>
            <a:ext cx="45720" cy="38061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9525" y="3131820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East (ZEN)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1" y="3131820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8085" y="3640454"/>
            <a:ext cx="45720" cy="3806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9525" y="3603878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Central (SWCC)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1" y="3603878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8085" y="4112513"/>
            <a:ext cx="45720" cy="3806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9525" y="4075937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CSD (SWCC)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1" y="4075937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8085" y="4584573"/>
            <a:ext cx="45720" cy="38061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9525" y="4547997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N Region (ZEN)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1" y="4547997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901184"/>
            <a:ext cx="8412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ABC Company · HR Analytics ·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Sales Team – Talent Rotation Dashboard</dc:title>
  <dc:subject>PptxGenJS Presentation</dc:subject>
  <dc:creator>HR Analytics</dc:creator>
  <cp:lastModifiedBy>HR Analytics</cp:lastModifiedBy>
  <cp:revision>1</cp:revision>
  <dcterms:created xsi:type="dcterms:W3CDTF">2026-03-19T06:22:52Z</dcterms:created>
  <dcterms:modified xsi:type="dcterms:W3CDTF">2026-03-19T06:22:52Z</dcterms:modified>
</cp:coreProperties>
</file>